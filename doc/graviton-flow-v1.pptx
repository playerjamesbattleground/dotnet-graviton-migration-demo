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 snapToObjects="1">
      <p:cViewPr>
        <p:scale>
          <a:sx n="140" d="100"/>
          <a:sy n="140" d="100"/>
        </p:scale>
        <p:origin x="-672" y="-6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120">
                <a:solidFill>
                  <a:srgbClr val="888888"/>
                </a:solidFill>
                <a:latin typeface="Arial"/>
              </a:rPr>
              <a:t>GADGETSONLINE  ·  AWS GRAVITON BUSINESS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1155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232F3E"/>
                </a:solidFill>
                <a:latin typeface="Arial"/>
              </a:rPr>
              <a:t>One codebase. Two processors.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1115568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AU" sz="1350" b="0" dirty="0">
                <a:solidFill>
                  <a:srgbClr val="555555"/>
                </a:solidFill>
                <a:latin typeface="Arial"/>
              </a:rPr>
              <a:t>Minimal</a:t>
            </a:r>
            <a:r>
              <a:rPr sz="1350" b="0" dirty="0">
                <a:solidFill>
                  <a:srgbClr val="555555"/>
                </a:solidFill>
                <a:latin typeface="Arial"/>
              </a:rPr>
              <a:t> </a:t>
            </a:r>
            <a:r>
              <a:rPr lang="en-AU" sz="1350" b="0" dirty="0">
                <a:solidFill>
                  <a:srgbClr val="555555"/>
                </a:solidFill>
                <a:latin typeface="Arial"/>
              </a:rPr>
              <a:t>change in CI/CD </a:t>
            </a:r>
            <a:r>
              <a:rPr sz="1350" b="0" dirty="0">
                <a:solidFill>
                  <a:srgbClr val="555555"/>
                </a:solidFill>
                <a:latin typeface="Arial"/>
              </a:rPr>
              <a:t>configuration decide which chip runs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108960"/>
            <a:ext cx="2240280" cy="105156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3200400"/>
            <a:ext cx="73152" cy="86868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Res_Source-Code_48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3" y="3396996"/>
            <a:ext cx="475488" cy="4754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18488" y="3383279"/>
            <a:ext cx="1280160" cy="5257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dirty="0">
                <a:solidFill>
                  <a:srgbClr val="232F3E"/>
                </a:solidFill>
                <a:latin typeface="Arial"/>
              </a:rPr>
              <a:t>Application source</a:t>
            </a:r>
          </a:p>
          <a:p>
            <a:pPr algn="l">
              <a:spcBef>
                <a:spcPts val="200"/>
              </a:spcBef>
            </a:pPr>
            <a:r>
              <a:rPr lang="en-AU" sz="950" b="0" dirty="0">
                <a:solidFill>
                  <a:srgbClr val="555555"/>
                </a:solidFill>
                <a:latin typeface="Arial"/>
              </a:rPr>
              <a:t>Same repository</a:t>
            </a:r>
            <a:endParaRPr sz="950" b="0" dirty="0">
              <a:solidFill>
                <a:srgbClr val="555555"/>
              </a:solidFill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160520" y="2240280"/>
            <a:ext cx="2240280" cy="105156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60520" y="2331720"/>
            <a:ext cx="73152" cy="868680"/>
          </a:xfrm>
          <a:prstGeom prst="rect">
            <a:avLst/>
          </a:prstGeom>
          <a:solidFill>
            <a:srgbClr val="007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ch_Amazon-Elastic-Container-Registry_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264" y="2528316"/>
            <a:ext cx="475488" cy="4754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01768" y="2514600"/>
            <a:ext cx="1280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232F3E"/>
                </a:solidFill>
                <a:latin typeface="Arial"/>
              </a:rPr>
              <a:t>Container image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555555"/>
                </a:solidFill>
                <a:latin typeface="Arial"/>
              </a:rPr>
              <a:t>built for x86_64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2240280"/>
            <a:ext cx="2240280" cy="105156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543800" y="2331720"/>
            <a:ext cx="73152" cy="868680"/>
          </a:xfrm>
          <a:prstGeom prst="rect">
            <a:avLst/>
          </a:prstGeom>
          <a:solidFill>
            <a:srgbClr val="0073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Arch_Amazon-EC2_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1544" y="2528316"/>
            <a:ext cx="475488" cy="47548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385048" y="2514600"/>
            <a:ext cx="1280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232F3E"/>
                </a:solidFill>
                <a:latin typeface="Arial"/>
              </a:rPr>
              <a:t>Amazon EC2  ·  c6i.xlarge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555555"/>
                </a:solidFill>
                <a:latin typeface="Arial"/>
              </a:rPr>
              <a:t>Intel Xeon, 4 vCPU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0" y="2766060"/>
            <a:ext cx="1143000" cy="0"/>
          </a:xfrm>
          <a:prstGeom prst="line">
            <a:avLst/>
          </a:prstGeom>
          <a:ln w="22225">
            <a:solidFill>
              <a:srgbClr val="0073B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3017520" y="2766060"/>
            <a:ext cx="1143000" cy="868679"/>
          </a:xfrm>
          <a:prstGeom prst="line">
            <a:avLst/>
          </a:prstGeom>
          <a:ln w="22225">
            <a:solidFill>
              <a:srgbClr val="0073B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160520" y="3977639"/>
            <a:ext cx="2240280" cy="105156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160520" y="4069079"/>
            <a:ext cx="73152" cy="86868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Arch_Amazon-Elastic-Container-Registry_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264" y="4265675"/>
            <a:ext cx="475488" cy="47548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001768" y="4251959"/>
            <a:ext cx="1280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232F3E"/>
                </a:solidFill>
                <a:latin typeface="Arial"/>
              </a:rPr>
              <a:t>Container image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555555"/>
                </a:solidFill>
                <a:latin typeface="Arial"/>
              </a:rPr>
              <a:t>built for arm64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43800" y="3977639"/>
            <a:ext cx="2240280" cy="105156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543800" y="4069079"/>
            <a:ext cx="73152" cy="86868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Arch_Amazon-EC2_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1544" y="4265675"/>
            <a:ext cx="475488" cy="47548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385048" y="4251959"/>
            <a:ext cx="1280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232F3E"/>
                </a:solidFill>
                <a:latin typeface="Arial"/>
              </a:rPr>
              <a:t>Amazon EC2  ·  c7g.xlarge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555555"/>
                </a:solidFill>
                <a:latin typeface="Arial"/>
              </a:rPr>
              <a:t>AWS Graviton3, 4 vCPU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00800" y="4503420"/>
            <a:ext cx="1143000" cy="0"/>
          </a:xfrm>
          <a:prstGeom prst="line">
            <a:avLst/>
          </a:prstGeom>
          <a:ln w="22225">
            <a:solidFill>
              <a:srgbClr val="FF9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017520" y="3634739"/>
            <a:ext cx="1143000" cy="868681"/>
          </a:xfrm>
          <a:prstGeom prst="line">
            <a:avLst/>
          </a:prstGeom>
          <a:ln w="22225">
            <a:solidFill>
              <a:srgbClr val="FF99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136124" y="5074920"/>
            <a:ext cx="941832" cy="338328"/>
          </a:xfrm>
          <a:prstGeom prst="roundRect">
            <a:avLst>
              <a:gd name="adj" fmla="val 6000"/>
            </a:avLst>
          </a:prstGeom>
          <a:solidFill>
            <a:srgbClr val="FFF4EC"/>
          </a:solidFill>
          <a:ln w="1270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328148" y="5111496"/>
            <a:ext cx="73152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100"/>
              </a:spcBef>
            </a:pPr>
            <a:r>
              <a:rPr sz="750" b="1" dirty="0">
                <a:solidFill>
                  <a:srgbClr val="555555"/>
                </a:solidFill>
                <a:latin typeface="Arial"/>
              </a:rPr>
              <a:t>FASTER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28148" y="5259530"/>
            <a:ext cx="73152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100"/>
              </a:spcBef>
            </a:pPr>
            <a:r>
              <a:rPr sz="750" b="1" dirty="0">
                <a:solidFill>
                  <a:srgbClr val="555555"/>
                </a:solidFill>
                <a:latin typeface="Arial"/>
              </a:rPr>
              <a:t>LOWER COST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053328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888888"/>
                </a:solidFill>
                <a:latin typeface="Arial"/>
              </a:rPr>
              <a:t>Measured on this application: 4 vCPU each, same availability zone, median of 3 rounds. Prices are published on-demand Linux rates.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39D54F99-A96D-DCE2-397E-F03415CC12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2096" y="4085022"/>
            <a:ext cx="1341120" cy="882514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13BC61A0-CAC3-1487-CBC8-41F6BBF58D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1616" y="2292800"/>
            <a:ext cx="1341120" cy="8825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88</Words>
  <Application>Microsoft Macintosh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Jiang, James</cp:lastModifiedBy>
  <cp:revision>4</cp:revision>
  <dcterms:created xsi:type="dcterms:W3CDTF">2013-01-27T09:14:16Z</dcterms:created>
  <dcterms:modified xsi:type="dcterms:W3CDTF">2026-09-10T08:45:31Z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2026-09-10T08:42:22Z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b8a59ba9-0855-4b76-8b67-aad194cd14c7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